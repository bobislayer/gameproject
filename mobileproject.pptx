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3" r:id="rId1"/>
  </p:sldMasterIdLst>
  <p:notesMasterIdLst>
    <p:notesMasterId r:id="rId10"/>
  </p:notesMasterIdLst>
  <p:sldIdLst>
    <p:sldId id="256" r:id="rId2"/>
    <p:sldId id="257" r:id="rId3"/>
    <p:sldId id="264" r:id="rId4"/>
    <p:sldId id="258" r:id="rId5"/>
    <p:sldId id="259" r:id="rId6"/>
    <p:sldId id="260" r:id="rId7"/>
    <p:sldId id="261" r:id="rId8"/>
    <p:sldId id="262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F11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4" d="100"/>
          <a:sy n="154" d="100"/>
        </p:scale>
        <p:origin x="38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8101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46971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5400" baseline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6404" y="3600450"/>
            <a:ext cx="7063740" cy="1268730"/>
          </a:xfrm>
        </p:spPr>
        <p:txBody>
          <a:bodyPr>
            <a:normAutofit/>
          </a:bodyPr>
          <a:lstStyle>
            <a:lvl1pPr marL="0" indent="0" algn="l">
              <a:buNone/>
              <a:defRPr sz="1650" baseline="0">
                <a:solidFill>
                  <a:schemeClr val="tx1">
                    <a:lumMod val="65000"/>
                  </a:schemeClr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9E016143-E03C-4CFD-AFDC-14E5BDEA754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6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 vert="horz" lIns="45720" tIns="45720" rIns="45720" bIns="45720" rtlCol="0" anchor="ctr">
            <a:normAutofit/>
          </a:bodyPr>
          <a:lstStyle>
            <a:lvl1pPr>
              <a:defRPr lang="en-US"/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156901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C94063-DF36-4330-A365-08DA1FA5B7D6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6842673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404" y="569214"/>
            <a:ext cx="7063740" cy="3031236"/>
          </a:xfrm>
        </p:spPr>
        <p:txBody>
          <a:bodyPr anchor="b">
            <a:normAutofit/>
          </a:bodyPr>
          <a:lstStyle>
            <a:lvl1pPr>
              <a:lnSpc>
                <a:spcPct val="85000"/>
              </a:lnSpc>
              <a:defRPr sz="5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3600450"/>
            <a:ext cx="7063740" cy="1268730"/>
          </a:xfrm>
        </p:spPr>
        <p:txBody>
          <a:bodyPr anchor="t">
            <a:normAutofit/>
          </a:bodyPr>
          <a:lstStyle>
            <a:lvl1pPr marL="0" indent="0">
              <a:buNone/>
              <a:defRPr sz="1650">
                <a:solidFill>
                  <a:schemeClr val="tx1">
                    <a:lumMod val="6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8A7C6C-0F39-4D70-8E8D-FE5B9C95FA73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3429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163525971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6404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94860" y="1371600"/>
            <a:ext cx="3360420" cy="3263503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CFA4AC-08CC-42CE-BD01-C191750A04EC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6391545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288409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1500" b="0">
                <a:solidFill>
                  <a:schemeClr val="tx1">
                    <a:lumMod val="65000"/>
                  </a:schemeClr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6404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594860" y="1288409"/>
            <a:ext cx="3360420" cy="54864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FontTx/>
              <a:buNone/>
              <a:defRPr lang="en-US" sz="1500" b="0" kern="1200" spc="8" baseline="0" dirty="0">
                <a:solidFill>
                  <a:schemeClr val="tx1">
                    <a:lumMod val="65000"/>
                  </a:schemeClr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594860" y="1880662"/>
            <a:ext cx="3360420" cy="2748488"/>
          </a:xfrm>
        </p:spPr>
        <p:txBody>
          <a:bodyPr/>
          <a:lstStyle>
            <a:lvl1pPr>
              <a:defRPr sz="1350"/>
            </a:lvl1pPr>
            <a:lvl2pPr>
              <a:defRPr sz="1200"/>
            </a:lvl2pPr>
            <a:lvl3pPr>
              <a:defRPr sz="105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A7A723-92A7-435B-B681-F25B092FEFEB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7449478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170639-886C-4FCF-9EAB-ABB5DA3F3F4A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2172775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30651-31F4-45D2-98AE-A2108F41BC07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7888314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342900"/>
            <a:ext cx="2400300" cy="1200148"/>
          </a:xfrm>
        </p:spPr>
        <p:txBody>
          <a:bodyPr anchor="b">
            <a:normAutofit/>
          </a:bodyPr>
          <a:lstStyle>
            <a:lvl1pPr>
              <a:defRPr sz="2400" b="0" baseline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8200" y="514350"/>
            <a:ext cx="4559300" cy="4114800"/>
          </a:xfrm>
        </p:spPr>
        <p:txBody>
          <a:bodyPr/>
          <a:lstStyle>
            <a:lvl1pPr>
              <a:defRPr sz="1500"/>
            </a:lvl1pPr>
            <a:lvl2pPr>
              <a:defRPr sz="1350"/>
            </a:lvl2pPr>
            <a:lvl3pPr>
              <a:defRPr sz="120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936" y="1574801"/>
            <a:ext cx="2400300" cy="2857501"/>
          </a:xfrm>
        </p:spPr>
        <p:txBody>
          <a:bodyPr>
            <a:normAutofit/>
          </a:bodyPr>
          <a:lstStyle>
            <a:lvl1pPr marL="0" indent="0">
              <a:lnSpc>
                <a:spcPct val="114000"/>
              </a:lnSpc>
              <a:spcBef>
                <a:spcPts val="600"/>
              </a:spcBef>
              <a:buNone/>
              <a:defRPr sz="9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53789A-C914-4DB1-8815-80B5EC7335C5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18848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943350"/>
            <a:ext cx="7486650" cy="685800"/>
          </a:xfrm>
        </p:spPr>
        <p:txBody>
          <a:bodyPr anchor="b">
            <a:normAutofit/>
          </a:bodyPr>
          <a:lstStyle>
            <a:lvl1pPr>
              <a:defRPr sz="2100" b="0">
                <a:solidFill>
                  <a:schemeClr val="tx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1"/>
            <a:ext cx="8469630" cy="3846692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4581442"/>
            <a:ext cx="7486650" cy="44775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buNone/>
              <a:defRPr sz="975">
                <a:solidFill>
                  <a:schemeClr val="tx1">
                    <a:lumMod val="75000"/>
                  </a:schemeClr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6440AA-91A0-436F-8FDB-C0F939DCAE21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4964212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33E54A-A8CA-48C1-9504-691B58049D29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372745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6525" y="285750"/>
            <a:ext cx="1857375" cy="4423172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71500" y="285750"/>
            <a:ext cx="5800725" cy="4423172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F6C806-BBF7-471C-9527-881CE2266695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7222619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61423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8469630" y="0"/>
            <a:ext cx="685800" cy="5143500"/>
          </a:xfrm>
          <a:prstGeom prst="rect">
            <a:avLst/>
          </a:prstGeom>
          <a:solidFill>
            <a:srgbClr val="30303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6404" y="274320"/>
            <a:ext cx="7269480" cy="994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6404" y="1371600"/>
            <a:ext cx="6446520" cy="3263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8098157" y="748903"/>
            <a:ext cx="1428749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 b="0">
                <a:solidFill>
                  <a:schemeClr val="tx1">
                    <a:lumMod val="50000"/>
                  </a:schemeClr>
                </a:solidFill>
              </a:defRPr>
            </a:lvl1pPr>
          </a:lstStyle>
          <a:p>
            <a:fld id="{0E59FD0C-5451-4CA0-86AF-E70AE3279989}" type="datetimeFigureOut">
              <a:rPr lang="en-US" smtClean="0"/>
              <a:t>5/30/2026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469506" y="3034903"/>
            <a:ext cx="268605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rgbClr val="969696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69630" y="4629150"/>
            <a:ext cx="685800" cy="445294"/>
          </a:xfrm>
          <a:prstGeom prst="rect">
            <a:avLst/>
          </a:prstGeom>
        </p:spPr>
        <p:txBody>
          <a:bodyPr vert="horz" lIns="45720" tIns="45720" rIns="45720" bIns="45720" rtlCol="0" anchor="ctr">
            <a:normAutofit/>
          </a:bodyPr>
          <a:lstStyle>
            <a:lvl1pPr algn="ctr">
              <a:defRPr sz="2700">
                <a:solidFill>
                  <a:srgbClr val="777777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0635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  <p:sldLayoutId id="2147483675" r:id="rId12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 spc="-38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37160" indent="-137160" algn="l" defTabSz="685800" rtl="0" eaLnBrk="1" latinLnBrk="0" hangingPunct="1">
        <a:lnSpc>
          <a:spcPct val="95000"/>
        </a:lnSpc>
        <a:spcBef>
          <a:spcPts val="1050"/>
        </a:spcBef>
        <a:spcAft>
          <a:spcPts val="150"/>
        </a:spcAft>
        <a:buClr>
          <a:schemeClr val="accent1"/>
        </a:buClr>
        <a:buSzPct val="80000"/>
        <a:buFont typeface="Arial" pitchFamily="34" charset="0"/>
        <a:buChar char="•"/>
        <a:defRPr sz="1350" kern="1200" spc="8" baseline="0">
          <a:solidFill>
            <a:schemeClr val="tx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225"/>
        </a:spcBef>
        <a:spcAft>
          <a:spcPts val="225"/>
        </a:spcAft>
        <a:buClr>
          <a:schemeClr val="accent1"/>
        </a:buClr>
        <a:buFont typeface="Wingdings 2" pitchFamily="18" charset="2"/>
        <a:buChar char=""/>
        <a:defRPr sz="10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-457200"/>
            <a:ext cx="3200400" cy="3200400"/>
          </a:xfrm>
          <a:prstGeom prst="ellipse">
            <a:avLst/>
          </a:prstGeom>
          <a:solidFill>
            <a:srgbClr val="3B82F6">
              <a:alpha val="12000"/>
            </a:srgbClr>
          </a:solidFill>
          <a:ln w="12700">
            <a:solidFill>
              <a:srgbClr val="3B82F6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772400" y="2743200"/>
            <a:ext cx="1828800" cy="1828800"/>
          </a:xfrm>
          <a:prstGeom prst="ellipse">
            <a:avLst/>
          </a:prstGeom>
          <a:solidFill>
            <a:srgbClr val="22C55E">
              <a:alpha val="15000"/>
            </a:srgbClr>
          </a:solidFill>
          <a:ln w="12700">
            <a:solidFill>
              <a:srgbClr val="22C55E">
                <a:alpha val="1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6400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Индивидуальный проект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7315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Тренировка</a:t>
            </a:r>
            <a:endParaRPr lang="en-US" sz="5200" dirty="0"/>
          </a:p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Внимательности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457200" y="324612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Мобильное приложение для Android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Идея и назначение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2651760" cy="356616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457200" y="1097280"/>
            <a:ext cx="2651760" cy="7315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457200" cy="457200"/>
          </a:xfrm>
          <a:prstGeom prst="ellipse">
            <a:avLst/>
          </a:prstGeom>
          <a:solidFill>
            <a:srgbClr val="3B82F6">
              <a:alpha val="25000"/>
            </a:srgbClr>
          </a:solidFill>
          <a:ln w="12700">
            <a:solidFill>
              <a:srgbClr val="3B82F6">
                <a:alpha val="2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Проблема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9436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Внимание и зрительная память слабеют </a:t>
            </a:r>
            <a:r>
              <a:rPr lang="en-US" sz="13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</a:t>
            </a: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тренировк</a:t>
            </a:r>
            <a:r>
              <a:rPr lang="ru-RU" sz="1300" dirty="0" smtClean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91840" y="1097280"/>
            <a:ext cx="2651760" cy="356616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91840" y="1097280"/>
            <a:ext cx="2651760" cy="73152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0" y="1280160"/>
            <a:ext cx="457200" cy="457200"/>
          </a:xfrm>
          <a:prstGeom prst="ellipse">
            <a:avLst/>
          </a:prstGeom>
          <a:solidFill>
            <a:srgbClr val="22C55E">
              <a:alpha val="25000"/>
            </a:srgbClr>
          </a:solidFill>
          <a:ln w="12700">
            <a:solidFill>
              <a:srgbClr val="22C55E">
                <a:alpha val="25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2900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Решение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2900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Игра, где нужно запомнить движущиеся фигуры и ввести </a:t>
            </a:r>
            <a:r>
              <a:rPr lang="en-US" sz="13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их</a:t>
            </a: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количество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26480" y="1097280"/>
            <a:ext cx="2651760" cy="356616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126480" y="1097280"/>
            <a:ext cx="2651760" cy="73152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309360" y="1280160"/>
            <a:ext cx="457200" cy="457200"/>
          </a:xfrm>
          <a:prstGeom prst="ellipse">
            <a:avLst/>
          </a:prstGeom>
          <a:solidFill>
            <a:srgbClr val="FBBF24">
              <a:alpha val="25000"/>
            </a:srgbClr>
          </a:solidFill>
          <a:ln w="12700">
            <a:solidFill>
              <a:srgbClr val="FBBF24">
                <a:alpha val="25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26364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63640" y="2377440"/>
            <a:ext cx="23774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Тренировать концентрацию внимания и кратковременную зрительную память в </a:t>
            </a:r>
            <a:r>
              <a:rPr lang="en-US" sz="130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игровой</a:t>
            </a:r>
            <a:r>
              <a:rPr lang="en-US" sz="13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 smtClean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форме</a:t>
            </a:r>
            <a:endParaRPr lang="en-US" sz="13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8573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30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Демонстрация работы</a:t>
            </a:r>
            <a:endParaRPr lang="en-US" sz="3000" dirty="0"/>
          </a:p>
        </p:txBody>
      </p:sp>
      <p:pic>
        <p:nvPicPr>
          <p:cNvPr id="20" name="Рисунок 1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4347" y="868680"/>
            <a:ext cx="1873241" cy="4057106"/>
          </a:xfrm>
          <a:prstGeom prst="rect">
            <a:avLst/>
          </a:prstGeom>
        </p:spPr>
      </p:pic>
      <p:pic>
        <p:nvPicPr>
          <p:cNvPr id="21" name="Рисунок 2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0468" y="868680"/>
            <a:ext cx="1873241" cy="4057106"/>
          </a:xfrm>
          <a:prstGeom prst="rect">
            <a:avLst/>
          </a:prstGeom>
        </p:spPr>
      </p:pic>
      <p:pic>
        <p:nvPicPr>
          <p:cNvPr id="22" name="Рисунок 2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6588" y="868680"/>
            <a:ext cx="1873242" cy="4057106"/>
          </a:xfrm>
          <a:prstGeom prst="rect">
            <a:avLst/>
          </a:prstGeom>
        </p:spPr>
      </p:pic>
      <p:pic>
        <p:nvPicPr>
          <p:cNvPr id="23" name="Рисунок 2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5902" y="810623"/>
            <a:ext cx="1900048" cy="4115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1297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работает приложение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365760" y="1051560"/>
            <a:ext cx="1965960" cy="356616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65760" y="1051560"/>
            <a:ext cx="1965960" cy="64008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41832" y="1280160"/>
            <a:ext cx="822960" cy="822960"/>
          </a:xfrm>
          <a:prstGeom prst="ellipse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41832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Запом</a:t>
            </a:r>
            <a:r>
              <a:rPr lang="ru-RU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нить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 экране движутся фигуры разных форм и цветов. Нужно запомнить их за отведённое время.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514600" y="1051560"/>
            <a:ext cx="1965960" cy="356616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514600" y="1051560"/>
            <a:ext cx="1965960" cy="64008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090672" y="1280160"/>
            <a:ext cx="822960" cy="822960"/>
          </a:xfrm>
          <a:prstGeom prst="ellipse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90672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260604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</a:t>
            </a:r>
            <a:r>
              <a:rPr lang="ru-RU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тить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606040" y="27432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таймера фигуры исчезают. </a:t>
            </a:r>
            <a:r>
              <a:rPr lang="ru-RU" sz="1200" dirty="0" smtClean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Игрок вводит количество фигур каждого вида.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663440" y="1051560"/>
            <a:ext cx="1965960" cy="356616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051560"/>
            <a:ext cx="1965960" cy="64008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239512" y="1280160"/>
            <a:ext cx="822960" cy="822960"/>
          </a:xfrm>
          <a:prstGeom prst="ellipse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239512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75488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Наб</a:t>
            </a:r>
            <a:r>
              <a:rPr lang="ru-RU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</a:t>
            </a:r>
            <a:r>
              <a:rPr lang="en-US" sz="1400" b="1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очк</a:t>
            </a:r>
            <a:r>
              <a:rPr lang="ru-RU" sz="1400" b="1" dirty="0" err="1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ов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7432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Правильный ответ — очки. Ошибка — минус жизнь. 3 ошибки — игра окончена.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812280" y="1051560"/>
            <a:ext cx="1965960" cy="356616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  <a:effectLst>
            <a:outerShdw blurRad="1270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812280" y="1051560"/>
            <a:ext cx="1965960" cy="640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88352" y="1280160"/>
            <a:ext cx="822960" cy="822960"/>
          </a:xfrm>
          <a:prstGeom prst="ellipse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88352" y="128016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903720" y="2240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1400" b="1" dirty="0" smtClean="0">
                <a:solidFill>
                  <a:srgbClr val="FFFFFF"/>
                </a:solidFill>
                <a:latin typeface="Calibri" pitchFamily="34" charset="0"/>
                <a:cs typeface="Calibri" pitchFamily="34" charset="-120"/>
              </a:rPr>
              <a:t>Сложность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903720" y="2743200"/>
            <a:ext cx="1783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каждым уровнем больше фигур и выше скорость. Новые виды открываются постепенно.</a:t>
            </a:r>
            <a:endParaRPr lang="en-US" sz="12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Структура приложения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841248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005840"/>
            <a:ext cx="64008" cy="685800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060704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GameFragment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85800" y="1371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экран игры. Управляет фазами (показ </a:t>
            </a:r>
            <a:r>
              <a:rPr lang="en-US" sz="1150" dirty="0" err="1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фигур</a:t>
            </a:r>
            <a:r>
              <a:rPr lang="en-US" sz="11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smtClean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 </a:t>
            </a:r>
            <a:r>
              <a:rPr lang="en-US" sz="11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ответы), таймером, счётом и жизнями.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801368"/>
            <a:ext cx="841248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801368"/>
            <a:ext cx="64008" cy="685800"/>
          </a:xfrm>
          <a:prstGeom prst="rect">
            <a:avLst/>
          </a:prstGeom>
          <a:solidFill>
            <a:srgbClr val="22C55E"/>
          </a:solidFill>
          <a:ln w="12700">
            <a:solidFill>
              <a:srgbClr val="22C55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1856232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ShapesView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167128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Кастомный View. Рисует и анимирует фигуры в отдельном потоке. Поддерживает 6 видов фигур.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596896"/>
            <a:ext cx="841248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596896"/>
            <a:ext cx="64008" cy="685800"/>
          </a:xfrm>
          <a:prstGeom prst="rect">
            <a:avLst/>
          </a:prstGeom>
          <a:solidFill>
            <a:srgbClr val="FBBF24"/>
          </a:solidFill>
          <a:ln w="12700">
            <a:solidFill>
              <a:srgbClr val="FBBF2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651760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GameModel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296265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Данные: ShapeType, LevelConfig, GameState. Объект Levels генерирует конфиг для каждого уровня.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392424"/>
            <a:ext cx="841248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3392424"/>
            <a:ext cx="64008" cy="6858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447288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AnswerRowView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85800" y="3758184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Строка ввода для одной фигуры. Показывает правильный / неправильный ответ подсветкой.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187952"/>
            <a:ext cx="8412480" cy="685800"/>
          </a:xfrm>
          <a:prstGeom prst="rect">
            <a:avLst/>
          </a:prstGeom>
          <a:solidFill>
            <a:srgbClr val="1A1D27"/>
          </a:solidFill>
          <a:ln w="12700">
            <a:solidFill>
              <a:srgbClr val="1A1D2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4187952"/>
            <a:ext cx="64008" cy="685800"/>
          </a:xfrm>
          <a:prstGeom prst="rect">
            <a:avLst/>
          </a:prstGeom>
          <a:solidFill>
            <a:srgbClr val="8B8FA8"/>
          </a:solidFill>
          <a:ln w="12700">
            <a:solidFill>
              <a:srgbClr val="8B8FA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" y="4242816"/>
            <a:ext cx="21031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MainActivity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85800" y="4553712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Activity. Управляет навигацией между фрагментами через FragmentManager.</a:t>
            </a:r>
            <a:endParaRPr lang="en-US" sz="11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Уровни сложности</a:t>
            </a:r>
            <a:endParaRPr lang="en-US" sz="30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8727392"/>
              </p:ext>
            </p:extLst>
          </p:nvPr>
        </p:nvGraphicFramePr>
        <p:xfrm>
          <a:off x="463731" y="1082350"/>
          <a:ext cx="7828073" cy="2209800"/>
        </p:xfrm>
        <a:graphic>
          <a:graphicData uri="http://schemas.openxmlformats.org/drawingml/2006/table">
            <a:tbl>
              <a:tblPr/>
              <a:tblGrid>
                <a:gridCol w="1371931"/>
                <a:gridCol w="1371931"/>
                <a:gridCol w="3066667"/>
                <a:gridCol w="2017544"/>
              </a:tblGrid>
              <a:tr h="237931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Уровень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Фигур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Видов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</a:rPr>
                        <a:t>Время</a:t>
                      </a:r>
                      <a:endParaRPr lang="en-US" sz="13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82F6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15 сек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5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2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14 сек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13 сек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4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13 сек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5–6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8–9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3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13 сек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7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4 (+новый вид)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11 сек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72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10+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7+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FBBF24"/>
                          </a:solidFill>
                        </a:rPr>
                        <a:t>5+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8B8FA8"/>
                          </a:solidFill>
                        </a:rPr>
                        <a:t>9 сек и меньше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2D3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D27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457200" y="452628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 достижении 10 фигур — добавляется новый вид, количество откатывается до 7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 и перспективы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C5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реализовано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457200" y="150876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Движущиеся фигуры — 6 видов и 6 цветов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Поле ввода с подсветкой ответов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Поэтапное увеличение сложности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Система жизней — 3 ошибки = конец игры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ru-RU" sz="12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Сохранение </a:t>
            </a:r>
            <a:r>
              <a:rPr lang="ru-RU" sz="125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рекорда игрока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Кнопка «Готов» для пропуска таймера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4617720" y="1005840"/>
            <a:ext cx="36576" cy="3657600"/>
          </a:xfrm>
          <a:prstGeom prst="rect">
            <a:avLst/>
          </a:prstGeom>
          <a:solidFill>
            <a:srgbClr val="2A2D3A"/>
          </a:solidFill>
          <a:ln w="12700">
            <a:solidFill>
              <a:srgbClr val="2A2D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846320" y="1051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Идеи для развития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846320" y="1508760"/>
            <a:ext cx="39319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Звуковые эффекты и фоновая музыка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Изображения персонажей вместо фигур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Онлайн-таблица рекордов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Разные режимы игры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8B8F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Статистика прогресса игрока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604243" y="-636659"/>
            <a:ext cx="5935514" cy="5935514"/>
          </a:xfrm>
          <a:prstGeom prst="ellipse">
            <a:avLst/>
          </a:prstGeom>
          <a:solidFill>
            <a:srgbClr val="3B82F6">
              <a:alpha val="7000"/>
            </a:srgbClr>
          </a:solidFill>
          <a:ln w="12700">
            <a:solidFill>
              <a:srgbClr val="3B82F6">
                <a:alpha val="7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178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за внимание!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View">
  <a:themeElements>
    <a:clrScheme name="View">
      <a:dk1>
        <a:sysClr val="windowText" lastClr="000000"/>
      </a:dk1>
      <a:lt1>
        <a:sysClr val="window" lastClr="FFFFFF"/>
      </a:lt1>
      <a:dk2>
        <a:srgbClr val="564B3C"/>
      </a:dk2>
      <a:lt2>
        <a:srgbClr val="ECEDD1"/>
      </a:lt2>
      <a:accent1>
        <a:srgbClr val="93A299"/>
      </a:accent1>
      <a:accent2>
        <a:srgbClr val="CB4B30"/>
      </a:accent2>
      <a:accent3>
        <a:srgbClr val="B5AE53"/>
      </a:accent3>
      <a:accent4>
        <a:srgbClr val="6F6A7A"/>
      </a:accent4>
      <a:accent5>
        <a:srgbClr val="E8B54D"/>
      </a:accent5>
      <a:accent6>
        <a:srgbClr val="8A7952"/>
      </a:accent6>
      <a:hlink>
        <a:srgbClr val="9F9F0B"/>
      </a:hlink>
      <a:folHlink>
        <a:srgbClr val="B2B2B2"/>
      </a:folHlink>
    </a:clrScheme>
    <a:fontScheme name="View">
      <a:maj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View">
      <a:fillStyleLst>
        <a:solidFill>
          <a:schemeClr val="phClr"/>
        </a:solidFill>
        <a:solidFill>
          <a:schemeClr val="phClr">
            <a:tint val="60000"/>
            <a:satMod val="120000"/>
          </a:schemeClr>
        </a:solidFill>
        <a:solidFill>
          <a:schemeClr val="phClr">
            <a:shade val="75000"/>
            <a:satMod val="13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3970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95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15240" dir="5400000" algn="tl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9525" prstMaterial="flat">
            <a:bevelT w="0" h="0" prst="coolSlant"/>
            <a:contourClr>
              <a:schemeClr val="phClr">
                <a:shade val="35000"/>
                <a:satMod val="130000"/>
              </a:schemeClr>
            </a:contourClr>
          </a:sp3d>
        </a:effectStyle>
        <a:effectStyle>
          <a:effectLst>
            <a:outerShdw blurRad="76200" dist="25400" dir="5400000" algn="tl" rotWithShape="0">
              <a:srgbClr val="000000">
                <a:alpha val="5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contourW="19050" prstMaterial="flat">
            <a:bevelT w="0" h="0" prst="coolSlant"/>
            <a:contourClr>
              <a:schemeClr val="phClr">
                <a:shade val="35000"/>
                <a:satMod val="14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4000"/>
                <a:shade val="98000"/>
                <a:satMod val="130000"/>
                <a:lumMod val="102000"/>
              </a:schemeClr>
            </a:gs>
            <a:gs pos="100000">
              <a:schemeClr val="phClr">
                <a:tint val="98000"/>
                <a:shade val="78000"/>
                <a:satMod val="14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iew" id="{BA0EB5A6-F2D4-4F82-977B-64ADEE4A2A69}" vid="{3866257B-E5CE-4C43-9210-F2DE76BE10B5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TM03457515[[fn=Вид]]</Template>
  <TotalTime>21</TotalTime>
  <Words>333</Words>
  <Application>Microsoft Office PowerPoint</Application>
  <PresentationFormat>Экран (16:9)</PresentationFormat>
  <Paragraphs>93</Paragraphs>
  <Slides>8</Slides>
  <Notes>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8</vt:i4>
      </vt:variant>
    </vt:vector>
  </HeadingPairs>
  <TitlesOfParts>
    <vt:vector size="14" baseType="lpstr">
      <vt:lpstr>Arial</vt:lpstr>
      <vt:lpstr>Calibri</vt:lpstr>
      <vt:lpstr>Century Schoolbook</vt:lpstr>
      <vt:lpstr>Consolas</vt:lpstr>
      <vt:lpstr>Wingdings 2</vt:lpstr>
      <vt:lpstr>View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bobi</cp:lastModifiedBy>
  <cp:revision>13</cp:revision>
  <dcterms:created xsi:type="dcterms:W3CDTF">2026-05-30T01:27:25Z</dcterms:created>
  <dcterms:modified xsi:type="dcterms:W3CDTF">2026-05-30T03:40:51Z</dcterms:modified>
</cp:coreProperties>
</file>